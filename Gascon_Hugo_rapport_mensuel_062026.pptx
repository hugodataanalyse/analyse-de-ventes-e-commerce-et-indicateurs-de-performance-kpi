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95801" y="6415426"/>
            <a:ext cx="5829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 b="1" dirty="0">
                <a:solidFill>
                  <a:srgbClr val="0071E3"/>
                </a:solidFill>
                <a:latin typeface="Arial"/>
              </a:rPr>
              <a:t>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1440" y="442937"/>
            <a:ext cx="81847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300" b="1" dirty="0">
                <a:latin typeface="Arial" panose="020B0604020202020204" pitchFamily="34" charset="0"/>
                <a:cs typeface="Arial" panose="020B0604020202020204" pitchFamily="34" charset="0"/>
              </a:rPr>
              <a:t>Temps passé vs panier</a:t>
            </a:r>
            <a:endParaRPr lang="fr-FR" sz="3300" b="1" dirty="0">
              <a:solidFill>
                <a:srgbClr val="1D1D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91440" y="1340269"/>
            <a:ext cx="582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👉 Résultat : plus de volume, mais une valeur moyenne en baisse — et ça commence à peser sur le chiffre d’affaires.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A86F9DC-8CDA-0AE6-5411-65CC6EE1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722" y="2940707"/>
            <a:ext cx="4600369" cy="3578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6170" y="6435091"/>
            <a:ext cx="5829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 b="1" dirty="0">
                <a:solidFill>
                  <a:srgbClr val="0071E3"/>
                </a:solidFill>
                <a:latin typeface="Arial"/>
              </a:rPr>
              <a:t>2/5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3822391-D962-335F-2185-360F3AB27298}"/>
              </a:ext>
            </a:extLst>
          </p:cNvPr>
          <p:cNvSpPr txBox="1"/>
          <p:nvPr/>
        </p:nvSpPr>
        <p:spPr>
          <a:xfrm>
            <a:off x="718911" y="1632678"/>
            <a:ext cx="7118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👉 On devient plus accessible… mais aussi plus banal, avec un impact direct sur la valeur des paniers.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4455DC-6024-8DCE-2851-55E67BC8C85F}"/>
              </a:ext>
            </a:extLst>
          </p:cNvPr>
          <p:cNvSpPr txBox="1"/>
          <p:nvPr/>
        </p:nvSpPr>
        <p:spPr>
          <a:xfrm>
            <a:off x="2340322" y="878211"/>
            <a:ext cx="82913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300" b="1" dirty="0">
                <a:latin typeface="Arial" panose="020B0604020202020204" pitchFamily="34" charset="0"/>
                <a:cs typeface="Arial" panose="020B0604020202020204" pitchFamily="34" charset="0"/>
              </a:rPr>
              <a:t>Évolution du produit</a:t>
            </a:r>
            <a:endParaRPr lang="fr-FR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85B724-64EF-D39D-DECD-2A15191A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35" y="2933363"/>
            <a:ext cx="4215729" cy="3278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7531" y="6380928"/>
            <a:ext cx="5829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 b="1" dirty="0">
                <a:solidFill>
                  <a:srgbClr val="0071E3"/>
                </a:solidFill>
                <a:latin typeface="Arial"/>
              </a:rP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924" y="521553"/>
            <a:ext cx="58293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300" b="1" dirty="0">
                <a:solidFill>
                  <a:srgbClr val="1D1D1F"/>
                </a:solidFill>
                <a:latin typeface="Arial"/>
              </a:rPr>
              <a:t>Analyse du panier moyen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940" y="1584001"/>
            <a:ext cx="582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👉 On vend plus de menus… mais souvent sans supplément, sans dessert.</a:t>
            </a:r>
            <a:endParaRPr lang="fr-FR" sz="1350" dirty="0">
              <a:solidFill>
                <a:srgbClr val="3D3D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4B1227-8C9C-9319-CBA4-7F3ECDECB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05" y="3179798"/>
            <a:ext cx="4115738" cy="3201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4950" y="6389932"/>
            <a:ext cx="5829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 b="1" dirty="0">
                <a:solidFill>
                  <a:srgbClr val="0071E3"/>
                </a:solidFill>
                <a:latin typeface="Arial"/>
              </a:rP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6911" y="533401"/>
            <a:ext cx="58293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300" b="1" dirty="0">
                <a:solidFill>
                  <a:srgbClr val="1D1D1F"/>
                </a:solidFill>
                <a:latin typeface="Arial"/>
              </a:rPr>
              <a:t>Taux de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6911" y="1499764"/>
            <a:ext cx="582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👉 Comme des clients qui regardent le menu… puis quittent la file avant de commander.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4BC16BD-0252-0AC2-7163-FACDF3DB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48" y="3429000"/>
            <a:ext cx="3560475" cy="2769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70325" y="6410825"/>
            <a:ext cx="5829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 b="1" dirty="0">
                <a:solidFill>
                  <a:srgbClr val="0071E3"/>
                </a:solidFill>
                <a:latin typeface="Arial"/>
              </a:rP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1608" y="523569"/>
            <a:ext cx="58293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300" b="1" dirty="0">
                <a:solidFill>
                  <a:srgbClr val="1D1D1F"/>
                </a:solidFill>
                <a:latin typeface="Arial"/>
              </a:rPr>
              <a:t>Trafic vs ventes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608" y="1354445"/>
            <a:ext cx="6246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👉 L’enjeu n’est plus d’attirer… mais de donner envie de commander — et d’augmenter la taille du plateau.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B8A579-7DDA-5EB2-764E-AF3AAF22B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71" y="3039616"/>
            <a:ext cx="4650981" cy="3617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Affichage à l'écran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Gascon</cp:lastModifiedBy>
  <cp:revision>45</cp:revision>
  <dcterms:created xsi:type="dcterms:W3CDTF">2013-01-27T09:14:16Z</dcterms:created>
  <dcterms:modified xsi:type="dcterms:W3CDTF">2026-07-17T14:00:26Z</dcterms:modified>
  <cp:category/>
</cp:coreProperties>
</file>